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The five datasets we actually need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60120"/>
          <a:ext cx="905256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417320"/>
                <a:gridCol w="3246120"/>
                <a:gridCol w="1234440"/>
                <a:gridCol w="1005840"/>
              </a:tblGrid>
              <a:tr h="73914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Open dataset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Source refresh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Why we need it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Our refresh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Licence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Past-hour pedestrian counts (per minute)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API/CSV; ~15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Current volume &amp; high-crowd 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Every 15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CC BY 4.0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Pedestrian counts per hour (2009–present)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API/CSV; monthly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Baselines, quiet patterns, forecasts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Monthly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CC BY 4.0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Pedestrian sensor locations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API/CSV; as maintained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Map position, status, relocation 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Daily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CC BY 4.0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Landmarks &amp; places of interest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API/CSV; periodic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Candidate parks, libraries, public breaks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Per iteration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CC BY 4.0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OpenStreetMap pedestrian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OSM extract/API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Walkable graph for sensory-weighted routes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Versioned snapshot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ODbL 1.0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5532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72554"/>
                </a:solidFill>
              </a:defRPr>
            </a:pPr>
            <a:r>
              <a:t>Selection rule: every source must support a user story—not included just because it is available.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Why we chose these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4F46E5"/>
                </a:solidFill>
              </a:defRPr>
            </a:pPr>
            <a:r>
              <a:t>• Live minute 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16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34155"/>
                </a:solidFill>
              </a:defRPr>
            </a:pPr>
            <a:r>
              <a:t>Epic 1 &amp; 2: real-time crowd and alerts. Only city open feed refreshed ~every 15 min.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0992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4F46E5"/>
                </a:solidFill>
              </a:defRPr>
            </a:pPr>
            <a:r>
              <a:t>• Historical hourly 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34155"/>
                </a:solidFill>
              </a:defRPr>
            </a:pPr>
            <a:r>
              <a:t>Defines “unusually busy” per sensor; powers hindsight, insight &amp; next-hour foresight.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59736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4F46E5"/>
                </a:solidFill>
              </a:defRPr>
            </a:pPr>
            <a:r>
              <a:t>• Sensor locations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15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34155"/>
                </a:solidFill>
              </a:defRPr>
            </a:pPr>
            <a:r>
              <a:t>Joins counts to the map; inactive/moved sensors must not mislead users.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09544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4F46E5"/>
                </a:solidFill>
              </a:defRPr>
            </a:pPr>
            <a:r>
              <a:t>• Landmarks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6557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34155"/>
                </a:solidFill>
              </a:defRPr>
            </a:pPr>
            <a:r>
              <a:t>Epic 2 US 2.1: candidate refuges (parks/libraries)—not proof they are quiet.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5935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4F46E5"/>
                </a:solidFill>
              </a:defRPr>
            </a:pPr>
            <a:r>
              <a:t>• OpenStreetMap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1538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34155"/>
                </a:solidFill>
              </a:defRPr>
            </a:pPr>
            <a:r>
              <a:t>Counts are points, not paths. OSM enables walkable sensory-weighted routes.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How each source creates customer value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960120"/>
            <a:ext cx="3703320" cy="306324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/>
          <a:lstStyle/>
          <a:p>
            <a:pPr algn="ctr">
              <a:spcAft>
                <a:spcPts val="600"/>
              </a:spcAft>
              <a:defRPr sz="1300" b="1">
                <a:solidFill>
                  <a:srgbClr val="4F46E5"/>
                </a:solidFill>
              </a:defRPr>
            </a:pPr>
            <a:r>
              <a:t>Hindsight — What happened?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Recurring peak periods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Quieter weekday/time combinations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Seasonal &amp; location differences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Benefit: plan a historically quieter window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960120"/>
            <a:ext cx="3703320" cy="306324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/>
          <a:lstStyle/>
          <a:p>
            <a:pPr algn="ctr">
              <a:spcAft>
                <a:spcPts val="600"/>
              </a:spcAft>
              <a:defRPr sz="1300" b="1">
                <a:solidFill>
                  <a:srgbClr val="4F46E5"/>
                </a:solidFill>
              </a:defRPr>
            </a:pPr>
            <a:r>
              <a:t>Insight — What is happening?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Current relative crowd level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Monitored lower-activity areas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Nearby candidate refuges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Benefit: avoid an unexpected crowd corridor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960120"/>
            <a:ext cx="3703320" cy="306324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/>
          <a:lstStyle/>
          <a:p>
            <a:pPr algn="ctr">
              <a:spcAft>
                <a:spcPts val="600"/>
              </a:spcAft>
              <a:defRPr sz="1300" b="1">
                <a:solidFill>
                  <a:srgbClr val="4F46E5"/>
                </a:solidFill>
              </a:defRPr>
            </a:pPr>
            <a:r>
              <a:t>Foresight — What may happen?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Next-hour crowd estimate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Confidence / uncertainty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Early rerouting prompt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Benefit: adjust before conditions worsen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4160520"/>
            <a:ext cx="11521440" cy="594360"/>
          </a:xfrm>
          <a:prstGeom prst="roundRect">
            <a:avLst/>
          </a:prstGeom>
          <a:solidFill>
            <a:srgbClr val="FFEDE5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97316"/>
                </a:solidFill>
              </a:defRPr>
            </a:pPr>
            <a:r>
              <a:t>Pedestrian volume is a sensory-load proxy—not a guarantee that a route or place is “safe”.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Planned data pipeline and quality controls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1051560"/>
            <a:ext cx="1783080" cy="868680"/>
          </a:xfrm>
          <a:prstGeom prst="roundRect">
            <a:avLst/>
          </a:prstGeom>
          <a:solidFill>
            <a:srgbClr val="ECFEFF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334155"/>
                </a:solidFill>
              </a:defRPr>
            </a:pPr>
            <a:r>
              <a:t>Official APIs</a:t>
            </a:r>
            <a:br/>
            <a:r>
              <a:t>+ OSM snapshot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029968" y="1325880"/>
            <a:ext cx="164592" cy="22860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12848" y="1051560"/>
            <a:ext cx="1783080" cy="868680"/>
          </a:xfrm>
          <a:prstGeom prst="roundRect">
            <a:avLst/>
          </a:prstGeom>
          <a:solidFill>
            <a:srgbClr val="ECFEFF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334155"/>
                </a:solidFill>
              </a:defRPr>
            </a:pPr>
            <a:r>
              <a:t>Immutable raw</a:t>
            </a:r>
            <a:br/>
            <a:r>
              <a:t>snapshot + metadata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14216" y="1325880"/>
            <a:ext cx="164592" cy="22860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97096" y="1051560"/>
            <a:ext cx="1783080" cy="868680"/>
          </a:xfrm>
          <a:prstGeom prst="roundRect">
            <a:avLst/>
          </a:prstGeom>
          <a:solidFill>
            <a:srgbClr val="ECFEFF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334155"/>
                </a:solidFill>
              </a:defRPr>
            </a:pPr>
            <a:r>
              <a:t>Validate,</a:t>
            </a:r>
            <a:br/>
            <a:r>
              <a:t>deduplicate,</a:t>
            </a:r>
            <a:br/>
            <a:r>
              <a:t>quality-flag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1325880"/>
            <a:ext cx="164592" cy="22860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81344" y="1051560"/>
            <a:ext cx="1783080" cy="868680"/>
          </a:xfrm>
          <a:prstGeom prst="roundRect">
            <a:avLst/>
          </a:prstGeom>
          <a:solidFill>
            <a:srgbClr val="ECFEFF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334155"/>
                </a:solidFill>
              </a:defRPr>
            </a:pPr>
            <a:r>
              <a:t>Normalised</a:t>
            </a:r>
            <a:br/>
            <a:r>
              <a:t>PostgreSQL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82712" y="1325880"/>
            <a:ext cx="164592" cy="22860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65592" y="1051560"/>
            <a:ext cx="1783080" cy="868680"/>
          </a:xfrm>
          <a:prstGeom prst="roundRect">
            <a:avLst/>
          </a:prstGeom>
          <a:solidFill>
            <a:srgbClr val="ECFEFF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334155"/>
                </a:solidFill>
              </a:defRPr>
            </a:pPr>
            <a:r>
              <a:t>Baseline, forecast,</a:t>
            </a:r>
            <a:br/>
            <a:r>
              <a:t>route weighting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966960" y="1325880"/>
            <a:ext cx="164592" cy="22860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149840" y="1051560"/>
            <a:ext cx="1783080" cy="868680"/>
          </a:xfrm>
          <a:prstGeom prst="roundRect">
            <a:avLst/>
          </a:prstGeom>
          <a:solidFill>
            <a:srgbClr val="ECFEFF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334155"/>
                </a:solidFill>
              </a:defRPr>
            </a:pPr>
            <a:r>
              <a:t>Application API</a:t>
            </a:r>
            <a:br/>
            <a:r>
              <a:t>map &amp; 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148840"/>
            <a:ext cx="5623560" cy="233172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/>
          <a:lstStyle/>
          <a:p>
            <a:pPr algn="ctr">
              <a:spcAft>
                <a:spcPts val="600"/>
              </a:spcAft>
              <a:defRPr sz="1300" b="1">
                <a:solidFill>
                  <a:srgbClr val="4F46E5"/>
                </a:solidFill>
              </a:defRPr>
            </a:pPr>
            <a:r>
              <a:t>Ingestion controls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Record source URL, retrieval time and licence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Validate IDs, timestamps, coordinates, non-negative counts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Upsert on (sensor_id, observed_at)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Quarantine invalid records—never silently discard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48840"/>
            <a:ext cx="5623560" cy="233172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/>
          <a:lstStyle/>
          <a:p>
            <a:pPr algn="ctr">
              <a:spcAft>
                <a:spcPts val="600"/>
              </a:spcAft>
              <a:defRPr sz="1300" b="1">
                <a:solidFill>
                  <a:srgbClr val="4F46E5"/>
                </a:solidFill>
              </a:defRPr>
            </a:pPr>
            <a:r>
              <a:t>Interpretation controls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Distinguish zero movement from sensor/API failure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Preserve sensor relocation history and active periods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Display freshness, coverage and prediction confidence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Version raw snapshots, transforms and model outputs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Simple ERD: four ideas we store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029200" cy="123444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72554"/>
                </a:solidFill>
              </a:defRPr>
            </a:pPr>
            <a:r>
              <a:t>SENSOR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Where in the CBD we measure</a:t>
            </a:r>
            <a:br/>
            <a:r>
              <a:t>(sensor_id, name, lat/lon, status)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606040"/>
            <a:ext cx="5029200" cy="123444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72554"/>
                </a:solidFill>
              </a:defRPr>
            </a:pPr>
            <a:r>
              <a:t>CROWD_READING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Raw open-data counts over time</a:t>
            </a:r>
            <a:br/>
            <a:r>
              <a:t>(sensor_id, recorded_at, count)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114800"/>
            <a:ext cx="5029200" cy="1417320"/>
          </a:xfrm>
          <a:prstGeom prst="roundRect">
            <a:avLst/>
          </a:prstGeom>
          <a:solidFill>
            <a:srgbClr val="FFF7ED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97316"/>
                </a:solidFill>
              </a:defRPr>
            </a:pPr>
            <a:r>
              <a:t>CROWD_SUMMARY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What the user sees</a:t>
            </a:r>
            <a:br/>
            <a:r>
              <a:t>(sensor_id, crowd level, confidence,</a:t>
            </a:r>
            <a:br/>
            <a:r>
              <a:t>now / typical / next hour)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011680"/>
            <a:ext cx="4754880" cy="123444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72554"/>
                </a:solidFill>
              </a:defRPr>
            </a:pPr>
            <a:r>
              <a:t>QUIET_PLACE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Candidate break spots from landmarks</a:t>
            </a:r>
            <a:br/>
            <a:r>
              <a:t>(place_id, name, type, lat/lon)</a:t>
            </a:r>
          </a:p>
        </p:txBody>
      </p:sp>
      <p:sp>
        <p:nvSpPr>
          <p:cNvPr id="7" name="Down Arrow 6"/>
          <p:cNvSpPr/>
          <p:nvPr/>
        </p:nvSpPr>
        <p:spPr>
          <a:xfrm>
            <a:off x="2286000" y="1600200"/>
            <a:ext cx="320040" cy="502920"/>
          </a:xfrm>
          <a:prstGeom prst="down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/>
        </p:nvSpPr>
        <p:spPr>
          <a:xfrm>
            <a:off x="2286000" y="3154680"/>
            <a:ext cx="320040" cy="502920"/>
          </a:xfrm>
          <a:prstGeom prst="down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657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34155"/>
                </a:solidFill>
              </a:defRPr>
            </a:pPr>
            <a:r>
              <a:t>Quiet places are a separate map layer.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334155"/>
                </a:solidFill>
              </a:defRPr>
            </a:pPr>
            <a:r>
              <a:t>The app shows “nearby” refuges when crowd is high—no direct database link needed at onboarding.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623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72554"/>
                </a:solidFill>
              </a:defRPr>
            </a:pPr>
            <a:r>
              <a:t>Walking routes use OpenStreetMap in the app layer; kept off this diagram to stay simple.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Selected analytical approach: explainable first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960120"/>
            <a:ext cx="5623560" cy="260604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/>
          <a:lstStyle/>
          <a:p>
            <a:pPr algn="ctr">
              <a:spcAft>
                <a:spcPts val="600"/>
              </a:spcAft>
              <a:defRPr sz="1300" b="1">
                <a:solidFill>
                  <a:srgbClr val="4F46E5"/>
                </a:solidFill>
              </a:defRPr>
            </a:pPr>
            <a:r>
              <a:t>Crowd classification (sensor-relative)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Low: ≤ 40th percentile for that sensor, weekday &amp; hour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Moderate: 40th–75th percentile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High: &gt; 75th percentile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Avoids one global threshold for different street widths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960120"/>
            <a:ext cx="5623560" cy="260604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/>
          <a:lstStyle/>
          <a:p>
            <a:pPr algn="ctr">
              <a:spcAft>
                <a:spcPts val="600"/>
              </a:spcAft>
              <a:defRPr sz="1300" b="1">
                <a:solidFill>
                  <a:srgbClr val="4F46E5"/>
                </a:solidFill>
              </a:defRPr>
            </a:pPr>
            <a:r>
              <a:t>Next-hour forecast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1. Historical median for sensor + weekday + hour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2. Adjust using most recent observation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3. Confidence from sample size &amp; data freshness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</a:defRPr>
            </a:pPr>
            <a:r>
              <a:t>4. Validate with MAE and alert precision/recall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70332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72554"/>
                </a:solidFill>
              </a:defRPr>
            </a:pPr>
            <a:r>
              <a:t>AI decision: no opaque ML required for onboarding. Add complexity only if validation shows better forecasts without losing explainability.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4434840"/>
            <a:ext cx="11521440" cy="868680"/>
          </a:xfrm>
          <a:prstGeom prst="roundRect">
            <a:avLst/>
          </a:prstGeom>
          <a:solidFill>
            <a:srgbClr val="FFEDE5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Responsible interpretation: say “lower observed pedestrian activity” and “candidate refuge”—not “sensory-safe”. Show stale-data warnings, coverage gaps and uncertainty.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Data risks, mitigations and source links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60120"/>
          <a:ext cx="11521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595360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Material risk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Planned mitigation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CBD sensor coverage gaps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Show monitored area only; do not extrapolate beyond defensible distance.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Missing readings ambiguous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Check sensor status &amp; neighbours; use unavailable/uncertain—not blind interpolation.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Events break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Lower forecast confidence; note factors outside current datasets.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Facility may not be quiet/open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Treat landmarks as candidates until validated.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Stale or altered public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Schema validation, checksummed snapshots, ingestion monitoring.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3977639"/>
            <a:ext cx="11521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0891B2"/>
                </a:solidFill>
              </a:defRPr>
            </a:pPr>
            <a:r>
              <a:t>Official sources (Aug 2026):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891B2"/>
                </a:solidFill>
              </a:defRPr>
            </a:pPr>
            <a:r>
              <a:t>• Minute counts: data.melbourne.vic.gov.au/.../pedestrian-counting-system-past-hour-counts-per-minute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891B2"/>
                </a:solidFill>
              </a:defRPr>
            </a:pPr>
            <a:r>
              <a:t>• Hourly counts: data.melbourne.vic.gov.au/.../pedestrian-counting-system-monthly-counts-per-hour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891B2"/>
                </a:solidFill>
              </a:defRPr>
            </a:pPr>
            <a:r>
              <a:t>• Sensor locations: data.melbourne.vic.gov.au/.../pedestrian-counting-system-sensor-locations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891B2"/>
                </a:solidFill>
              </a:defRPr>
            </a:pPr>
            <a:r>
              <a:t>• Landmarks: data.melbourne.vic.gov.au/.../landmarks-and-places-of-interest-...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891B2"/>
                </a:solidFill>
              </a:defRPr>
            </a:pPr>
            <a:r>
              <a:t>• OpenStreetMap (ODbL) • CC BY 4.0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