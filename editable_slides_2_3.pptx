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00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108813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 i="0">
                <a:solidFill>
                  <a:srgbClr val="17324D"/>
                </a:solidFill>
                <a:latin typeface="Arial"/>
              </a:defRPr>
            </a:pPr>
            <a:r>
              <a:t>Data Pipeline: Raw Counts to User-Facing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 i="0">
                <a:solidFill>
                  <a:srgbClr val="5E7284"/>
                </a:solidFill>
                <a:latin typeface="Arial"/>
              </a:defRPr>
            </a:pPr>
            <a:r>
              <a:t>The data layer must preserve provenance, quality status, freshness and uncertainty.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" y="1408176"/>
            <a:ext cx="1499616" cy="960120"/>
          </a:xfrm>
          <a:prstGeom prst="roundRect">
            <a:avLst/>
          </a:prstGeom>
          <a:solidFill>
            <a:srgbClr val="EDF7FC"/>
          </a:solidFill>
          <a:ln w="12700">
            <a:solidFill>
              <a:srgbClr val="00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9224" y="1508760"/>
            <a:ext cx="265176" cy="265176"/>
          </a:xfrm>
          <a:prstGeom prst="ellipse">
            <a:avLst/>
          </a:prstGeom>
          <a:solidFill>
            <a:srgbClr val="00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682496"/>
            <a:ext cx="1152143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80" b="1" i="0">
                <a:solidFill>
                  <a:srgbClr val="17324D"/>
                </a:solidFill>
                <a:latin typeface="Arial"/>
              </a:defRPr>
            </a:pPr>
            <a:r>
              <a:t>Official APIs</a:t>
            </a:r>
            <a:br/>
            <a:r>
              <a:t>+ OSM snapshot</a:t>
            </a:r>
          </a:p>
        </p:txBody>
      </p:sp>
      <p:sp>
        <p:nvSpPr>
          <p:cNvPr id="9" name="Chevron 8"/>
          <p:cNvSpPr/>
          <p:nvPr/>
        </p:nvSpPr>
        <p:spPr>
          <a:xfrm>
            <a:off x="2103120" y="1700784"/>
            <a:ext cx="219456" cy="338328"/>
          </a:xfrm>
          <a:prstGeom prst="chevron">
            <a:avLst/>
          </a:prstGeom>
          <a:solidFill>
            <a:srgbClr val="A9B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86584" y="1408176"/>
            <a:ext cx="1499616" cy="960120"/>
          </a:xfrm>
          <a:prstGeom prst="roundRect">
            <a:avLst/>
          </a:prstGeom>
          <a:solidFill>
            <a:srgbClr val="EDF7FC"/>
          </a:solidFill>
          <a:ln w="12700">
            <a:solidFill>
              <a:srgbClr val="00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59736" y="1508760"/>
            <a:ext cx="265176" cy="265176"/>
          </a:xfrm>
          <a:prstGeom prst="ellipse">
            <a:avLst/>
          </a:prstGeom>
          <a:solidFill>
            <a:srgbClr val="00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1682496"/>
            <a:ext cx="1152143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80" b="1" i="0">
                <a:solidFill>
                  <a:srgbClr val="17324D"/>
                </a:solidFill>
                <a:latin typeface="Arial"/>
              </a:defRPr>
            </a:pPr>
            <a:r>
              <a:t>Immutable raw</a:t>
            </a:r>
            <a:br/>
            <a:r>
              <a:t>snapshot +</a:t>
            </a:r>
            <a:br/>
            <a:r>
              <a:t>metadata</a:t>
            </a:r>
          </a:p>
        </p:txBody>
      </p:sp>
      <p:sp>
        <p:nvSpPr>
          <p:cNvPr id="13" name="Chevron 12"/>
          <p:cNvSpPr/>
          <p:nvPr/>
        </p:nvSpPr>
        <p:spPr>
          <a:xfrm>
            <a:off x="3913632" y="1700784"/>
            <a:ext cx="219456" cy="338328"/>
          </a:xfrm>
          <a:prstGeom prst="chevron">
            <a:avLst/>
          </a:prstGeom>
          <a:solidFill>
            <a:srgbClr val="A9B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97096" y="1408176"/>
            <a:ext cx="1499616" cy="960120"/>
          </a:xfrm>
          <a:prstGeom prst="roundRect">
            <a:avLst/>
          </a:prstGeom>
          <a:solidFill>
            <a:srgbClr val="EDF7FC"/>
          </a:solidFill>
          <a:ln w="12700">
            <a:solidFill>
              <a:srgbClr val="00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70248" y="1508760"/>
            <a:ext cx="265176" cy="265176"/>
          </a:xfrm>
          <a:prstGeom prst="ellipse">
            <a:avLst/>
          </a:prstGeom>
          <a:solidFill>
            <a:srgbClr val="00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682496"/>
            <a:ext cx="1152143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80" b="1" i="0">
                <a:solidFill>
                  <a:srgbClr val="17324D"/>
                </a:solidFill>
                <a:latin typeface="Arial"/>
              </a:defRPr>
            </a:pPr>
            <a:r>
              <a:t>Validate,</a:t>
            </a:r>
            <a:br/>
            <a:r>
              <a:t>deduplicate</a:t>
            </a:r>
            <a:br/>
            <a:r>
              <a:t>and quality-flag</a:t>
            </a:r>
          </a:p>
        </p:txBody>
      </p:sp>
      <p:sp>
        <p:nvSpPr>
          <p:cNvPr id="17" name="Chevron 16"/>
          <p:cNvSpPr/>
          <p:nvPr/>
        </p:nvSpPr>
        <p:spPr>
          <a:xfrm>
            <a:off x="5724144" y="1700784"/>
            <a:ext cx="219456" cy="338328"/>
          </a:xfrm>
          <a:prstGeom prst="chevron">
            <a:avLst/>
          </a:prstGeom>
          <a:solidFill>
            <a:srgbClr val="A9B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89320" y="1408176"/>
            <a:ext cx="1499616" cy="960120"/>
          </a:xfrm>
          <a:prstGeom prst="roundRect">
            <a:avLst/>
          </a:prstGeom>
          <a:solidFill>
            <a:srgbClr val="ECF6F3"/>
          </a:solidFill>
          <a:ln w="12700">
            <a:solidFill>
              <a:srgbClr val="2E8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62472" y="1508760"/>
            <a:ext cx="265176" cy="265176"/>
          </a:xfrm>
          <a:prstGeom prst="ellipse">
            <a:avLst/>
          </a:prstGeom>
          <a:solidFill>
            <a:srgbClr val="2E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1682496"/>
            <a:ext cx="1152143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80" b="1" i="0">
                <a:solidFill>
                  <a:srgbClr val="17324D"/>
                </a:solidFill>
                <a:latin typeface="Arial"/>
              </a:defRPr>
            </a:pPr>
            <a:r>
              <a:t>Normalised</a:t>
            </a:r>
            <a:br/>
            <a:r>
              <a:t>PostgreSQL</a:t>
            </a:r>
          </a:p>
        </p:txBody>
      </p:sp>
      <p:sp>
        <p:nvSpPr>
          <p:cNvPr id="21" name="Chevron 20"/>
          <p:cNvSpPr/>
          <p:nvPr/>
        </p:nvSpPr>
        <p:spPr>
          <a:xfrm>
            <a:off x="7516367" y="1700784"/>
            <a:ext cx="219456" cy="338328"/>
          </a:xfrm>
          <a:prstGeom prst="chevron">
            <a:avLst/>
          </a:prstGeom>
          <a:solidFill>
            <a:srgbClr val="A9B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99831" y="1408176"/>
            <a:ext cx="1499616" cy="960120"/>
          </a:xfrm>
          <a:prstGeom prst="roundRect">
            <a:avLst/>
          </a:prstGeom>
          <a:solidFill>
            <a:srgbClr val="ECF6F3"/>
          </a:solidFill>
          <a:ln w="12700">
            <a:solidFill>
              <a:srgbClr val="2E8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72983" y="1508760"/>
            <a:ext cx="265176" cy="265176"/>
          </a:xfrm>
          <a:prstGeom prst="ellipse">
            <a:avLst/>
          </a:prstGeom>
          <a:solidFill>
            <a:srgbClr val="2E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5" y="1682496"/>
            <a:ext cx="1152143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80" b="1" i="0">
                <a:solidFill>
                  <a:srgbClr val="17324D"/>
                </a:solidFill>
                <a:latin typeface="Arial"/>
              </a:defRPr>
            </a:pPr>
            <a:r>
              <a:t>Baseline,</a:t>
            </a:r>
            <a:br/>
            <a:r>
              <a:t>forecast</a:t>
            </a:r>
            <a:br/>
            <a:r>
              <a:t>and route</a:t>
            </a:r>
            <a:br/>
            <a:r>
              <a:t>weighting</a:t>
            </a:r>
          </a:p>
        </p:txBody>
      </p:sp>
      <p:sp>
        <p:nvSpPr>
          <p:cNvPr id="25" name="Chevron 24"/>
          <p:cNvSpPr/>
          <p:nvPr/>
        </p:nvSpPr>
        <p:spPr>
          <a:xfrm>
            <a:off x="9326880" y="1700784"/>
            <a:ext cx="219456" cy="338328"/>
          </a:xfrm>
          <a:prstGeom prst="chevron">
            <a:avLst/>
          </a:prstGeom>
          <a:solidFill>
            <a:srgbClr val="A9B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0" y="1408176"/>
            <a:ext cx="1499616" cy="960120"/>
          </a:xfrm>
          <a:prstGeom prst="roundRect">
            <a:avLst/>
          </a:prstGeom>
          <a:solidFill>
            <a:srgbClr val="FEF4E8"/>
          </a:solidFill>
          <a:ln w="12700">
            <a:solidFill>
              <a:srgbClr val="E8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74352" y="1508760"/>
            <a:ext cx="265176" cy="265176"/>
          </a:xfrm>
          <a:prstGeom prst="ellipse">
            <a:avLst/>
          </a:prstGeom>
          <a:solidFill>
            <a:srgbClr val="E8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8944" y="1682496"/>
            <a:ext cx="1152143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80" b="1" i="0">
                <a:solidFill>
                  <a:srgbClr val="17324D"/>
                </a:solidFill>
                <a:latin typeface="Arial"/>
              </a:defRPr>
            </a:pPr>
            <a:r>
              <a:t>Application API</a:t>
            </a:r>
            <a:br/>
            <a:r>
              <a:t>map + alerts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2770632"/>
            <a:ext cx="4956048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" y="2770632"/>
            <a:ext cx="4956048" cy="429768"/>
          </a:xfrm>
          <a:prstGeom prst="rect">
            <a:avLst/>
          </a:prstGeom>
          <a:solidFill>
            <a:srgbClr val="00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2862072"/>
            <a:ext cx="462686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Ingestion controls</a:t>
            </a:r>
          </a:p>
        </p:txBody>
      </p:sp>
      <p:sp>
        <p:nvSpPr>
          <p:cNvPr id="32" name="Oval 31"/>
          <p:cNvSpPr/>
          <p:nvPr/>
        </p:nvSpPr>
        <p:spPr>
          <a:xfrm>
            <a:off x="786384" y="3410711"/>
            <a:ext cx="128016" cy="128016"/>
          </a:xfrm>
          <a:prstGeom prst="ellipse">
            <a:avLst/>
          </a:prstGeom>
          <a:solidFill>
            <a:srgbClr val="00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1033271" y="3401568"/>
            <a:ext cx="433425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40" b="0" i="0">
                <a:solidFill>
                  <a:srgbClr val="17324D"/>
                </a:solidFill>
                <a:latin typeface="Arial"/>
              </a:defRPr>
            </a:pPr>
            <a:r>
              <a:t>Record source URL, retrieval time and licence</a:t>
            </a:r>
          </a:p>
        </p:txBody>
      </p:sp>
      <p:sp>
        <p:nvSpPr>
          <p:cNvPr id="34" name="Oval 33"/>
          <p:cNvSpPr/>
          <p:nvPr/>
        </p:nvSpPr>
        <p:spPr>
          <a:xfrm>
            <a:off x="786384" y="3842765"/>
            <a:ext cx="128016" cy="128016"/>
          </a:xfrm>
          <a:prstGeom prst="ellipse">
            <a:avLst/>
          </a:prstGeom>
          <a:solidFill>
            <a:srgbClr val="00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1033271" y="3833622"/>
            <a:ext cx="433425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40" b="0" i="0">
                <a:solidFill>
                  <a:srgbClr val="17324D"/>
                </a:solidFill>
                <a:latin typeface="Arial"/>
              </a:defRPr>
            </a:pPr>
            <a:r>
              <a:t>Validate IDs, timestamps, coordinates and non-negative counts</a:t>
            </a:r>
          </a:p>
        </p:txBody>
      </p:sp>
      <p:sp>
        <p:nvSpPr>
          <p:cNvPr id="36" name="Oval 35"/>
          <p:cNvSpPr/>
          <p:nvPr/>
        </p:nvSpPr>
        <p:spPr>
          <a:xfrm>
            <a:off x="786384" y="4274820"/>
            <a:ext cx="128016" cy="128016"/>
          </a:xfrm>
          <a:prstGeom prst="ellipse">
            <a:avLst/>
          </a:prstGeom>
          <a:solidFill>
            <a:srgbClr val="00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033271" y="4265676"/>
            <a:ext cx="433425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40" b="0" i="0">
                <a:solidFill>
                  <a:srgbClr val="17324D"/>
                </a:solidFill>
                <a:latin typeface="Arial"/>
              </a:defRPr>
            </a:pPr>
            <a:r>
              <a:t>Upsert on (sensor_id, observed_at)</a:t>
            </a:r>
          </a:p>
        </p:txBody>
      </p:sp>
      <p:sp>
        <p:nvSpPr>
          <p:cNvPr id="38" name="Oval 37"/>
          <p:cNvSpPr/>
          <p:nvPr/>
        </p:nvSpPr>
        <p:spPr>
          <a:xfrm>
            <a:off x="786384" y="4706873"/>
            <a:ext cx="128016" cy="128016"/>
          </a:xfrm>
          <a:prstGeom prst="ellipse">
            <a:avLst/>
          </a:prstGeom>
          <a:solidFill>
            <a:srgbClr val="00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1033271" y="4697729"/>
            <a:ext cx="433425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40" b="0" i="0">
                <a:solidFill>
                  <a:srgbClr val="17324D"/>
                </a:solidFill>
                <a:latin typeface="Arial"/>
              </a:defRPr>
            </a:pPr>
            <a:r>
              <a:t>Quarantine invalid records—never silently discard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9904" y="2770632"/>
            <a:ext cx="4956048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89904" y="2770632"/>
            <a:ext cx="4956048" cy="429768"/>
          </a:xfrm>
          <a:prstGeom prst="rect">
            <a:avLst/>
          </a:prstGeom>
          <a:solidFill>
            <a:srgbClr val="2E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4496" y="2862072"/>
            <a:ext cx="462686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Interpretation controls</a:t>
            </a:r>
          </a:p>
        </p:txBody>
      </p:sp>
      <p:sp>
        <p:nvSpPr>
          <p:cNvPr id="43" name="Oval 42"/>
          <p:cNvSpPr/>
          <p:nvPr/>
        </p:nvSpPr>
        <p:spPr>
          <a:xfrm>
            <a:off x="6272784" y="3410711"/>
            <a:ext cx="128016" cy="128016"/>
          </a:xfrm>
          <a:prstGeom prst="ellipse">
            <a:avLst/>
          </a:prstGeom>
          <a:solidFill>
            <a:srgbClr val="2E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6519672" y="3401568"/>
            <a:ext cx="433425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40" b="0" i="0">
                <a:solidFill>
                  <a:srgbClr val="17324D"/>
                </a:solidFill>
                <a:latin typeface="Arial"/>
              </a:defRPr>
            </a:pPr>
            <a:r>
              <a:t>Distinguish zero movement from sensor/API failure</a:t>
            </a:r>
          </a:p>
        </p:txBody>
      </p:sp>
      <p:sp>
        <p:nvSpPr>
          <p:cNvPr id="45" name="Oval 44"/>
          <p:cNvSpPr/>
          <p:nvPr/>
        </p:nvSpPr>
        <p:spPr>
          <a:xfrm>
            <a:off x="6272784" y="3842765"/>
            <a:ext cx="128016" cy="128016"/>
          </a:xfrm>
          <a:prstGeom prst="ellipse">
            <a:avLst/>
          </a:prstGeom>
          <a:solidFill>
            <a:srgbClr val="2E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6519672" y="3833622"/>
            <a:ext cx="433425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40" b="0" i="0">
                <a:solidFill>
                  <a:srgbClr val="17324D"/>
                </a:solidFill>
                <a:latin typeface="Arial"/>
              </a:defRPr>
            </a:pPr>
            <a:r>
              <a:t>Preserve sensor relocation history and active periods</a:t>
            </a:r>
          </a:p>
        </p:txBody>
      </p:sp>
      <p:sp>
        <p:nvSpPr>
          <p:cNvPr id="47" name="Oval 46"/>
          <p:cNvSpPr/>
          <p:nvPr/>
        </p:nvSpPr>
        <p:spPr>
          <a:xfrm>
            <a:off x="6272784" y="4274820"/>
            <a:ext cx="128016" cy="128016"/>
          </a:xfrm>
          <a:prstGeom prst="ellipse">
            <a:avLst/>
          </a:prstGeom>
          <a:solidFill>
            <a:srgbClr val="2E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6519672" y="4265676"/>
            <a:ext cx="433425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40" b="0" i="0">
                <a:solidFill>
                  <a:srgbClr val="17324D"/>
                </a:solidFill>
                <a:latin typeface="Arial"/>
              </a:defRPr>
            </a:pPr>
            <a:r>
              <a:t>Display freshness, geographic coverage and confidence</a:t>
            </a:r>
          </a:p>
        </p:txBody>
      </p:sp>
      <p:sp>
        <p:nvSpPr>
          <p:cNvPr id="49" name="Oval 48"/>
          <p:cNvSpPr/>
          <p:nvPr/>
        </p:nvSpPr>
        <p:spPr>
          <a:xfrm>
            <a:off x="6272784" y="4706873"/>
            <a:ext cx="128016" cy="128016"/>
          </a:xfrm>
          <a:prstGeom prst="ellipse">
            <a:avLst/>
          </a:prstGeom>
          <a:solidFill>
            <a:srgbClr val="2E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6519672" y="4697729"/>
            <a:ext cx="433425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40" b="0" i="0">
                <a:solidFill>
                  <a:srgbClr val="17324D"/>
                </a:solidFill>
                <a:latin typeface="Arial"/>
              </a:defRPr>
            </a:pPr>
            <a:r>
              <a:t>Version raw snapshots, transformations and model outputs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3093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600" b="0" i="1">
                <a:solidFill>
                  <a:srgbClr val="5E7284"/>
                </a:solidFill>
                <a:latin typeface="Arial"/>
              </a:defRPr>
            </a:pPr>
            <a:r>
              <a:t>Source basis: Open Data.pdf — planned pipeline and quality controls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" y="6556248"/>
            <a:ext cx="2926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550" b="1" i="0">
                <a:solidFill>
                  <a:srgbClr val="5E7284"/>
                </a:solidFill>
                <a:latin typeface="Arial"/>
              </a:defRPr>
            </a:pPr>
            <a:r>
              <a:t>S E N S O R Y - F R I E N D L Y   U R B A N   F U T U R E 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12680" y="6556248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550" b="1" i="0">
                <a:solidFill>
                  <a:srgbClr val="5E7284"/>
                </a:solidFill>
                <a:latin typeface="Arial"/>
              </a:defRPr>
            </a:pPr>
            <a:r>
              <a:t>D A T A   S C I E N C E   P R O P O S A L  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00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108813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 i="0">
                <a:solidFill>
                  <a:srgbClr val="17324D"/>
                </a:solidFill>
                <a:latin typeface="Arial"/>
              </a:defRPr>
            </a:pPr>
            <a:r>
              <a:t>Explainable Analytics for the Onboarding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 i="0">
                <a:solidFill>
                  <a:srgbClr val="5E7284"/>
                </a:solidFill>
                <a:latin typeface="Arial"/>
              </a:defRPr>
            </a:pPr>
            <a:r>
              <a:t>Start with transparent baselines before introducing complex machine-learning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271016"/>
            <a:ext cx="495604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43016" y="1271016"/>
            <a:ext cx="546811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517904"/>
            <a:ext cx="1920240" cy="329184"/>
          </a:xfrm>
          <a:prstGeom prst="roundRect">
            <a:avLst/>
          </a:prstGeom>
          <a:solidFill>
            <a:srgbClr val="00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17904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CROWD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03120"/>
            <a:ext cx="4434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30" b="0" i="0">
                <a:solidFill>
                  <a:srgbClr val="17324D"/>
                </a:solidFill>
                <a:latin typeface="Arial"/>
              </a:defRPr>
            </a:pPr>
            <a:r>
              <a:t>Compare each observation with the same sensor’s</a:t>
            </a:r>
            <a:br/>
            <a:r>
              <a:t>historical distribution for the same weekday and hour.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" y="2734056"/>
            <a:ext cx="4279392" cy="512064"/>
          </a:xfrm>
          <a:prstGeom prst="roundRect">
            <a:avLst/>
          </a:prstGeom>
          <a:solidFill>
            <a:srgbClr val="ECF6F3"/>
          </a:solidFill>
          <a:ln w="12700">
            <a:solidFill>
              <a:srgbClr val="2E8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88036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00" b="1" i="0">
                <a:solidFill>
                  <a:srgbClr val="2E8675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2576" y="2880360"/>
            <a:ext cx="267919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50" b="0" i="0">
                <a:solidFill>
                  <a:srgbClr val="17324D"/>
                </a:solidFill>
                <a:latin typeface="Arial"/>
              </a:defRPr>
            </a:pPr>
            <a:r>
              <a:t>≤ 40th percentile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" y="3401568"/>
            <a:ext cx="4279392" cy="512064"/>
          </a:xfrm>
          <a:prstGeom prst="roundRect">
            <a:avLst/>
          </a:prstGeom>
          <a:solidFill>
            <a:srgbClr val="FEF4E8"/>
          </a:solidFill>
          <a:ln w="12700">
            <a:solidFill>
              <a:srgbClr val="E8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5478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00" b="1" i="0">
                <a:solidFill>
                  <a:srgbClr val="E87E22"/>
                </a:solidFill>
                <a:latin typeface="Arial"/>
              </a:defRPr>
            </a:pPr>
            <a:r>
              <a:t>MODERATE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2576" y="3547872"/>
            <a:ext cx="267919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50" b="0" i="0">
                <a:solidFill>
                  <a:srgbClr val="17324D"/>
                </a:solidFill>
                <a:latin typeface="Arial"/>
              </a:defRPr>
            </a:pPr>
            <a:r>
              <a:t>40th–75th percentile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" y="4069080"/>
            <a:ext cx="4279392" cy="512064"/>
          </a:xfrm>
          <a:prstGeom prst="roundRect">
            <a:avLst/>
          </a:prstGeom>
          <a:solidFill>
            <a:srgbClr val="FDECED"/>
          </a:solidFill>
          <a:ln w="12700">
            <a:solidFill>
              <a:srgbClr val="C9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215384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00" b="1" i="0">
                <a:solidFill>
                  <a:srgbClr val="C94B4B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2576" y="4215384"/>
            <a:ext cx="267919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50" b="0" i="0">
                <a:solidFill>
                  <a:srgbClr val="17324D"/>
                </a:solidFill>
                <a:latin typeface="Arial"/>
              </a:defRPr>
            </a:pPr>
            <a:r>
              <a:t>&gt; 75th percentile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992624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 i="0">
                <a:solidFill>
                  <a:srgbClr val="0078B8"/>
                </a:solidFill>
                <a:latin typeface="Arial"/>
              </a:defRPr>
            </a:pPr>
            <a:r>
              <a:t>Why this is better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57984" y="48920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 i="0">
                <a:solidFill>
                  <a:srgbClr val="5E7284"/>
                </a:solidFill>
                <a:latin typeface="Arial"/>
              </a:defRPr>
            </a:pPr>
            <a:r>
              <a:t>It avoids one arbitrary threshold across</a:t>
            </a:r>
            <a:br/>
            <a:r>
              <a:t>locations with very different normal pedestrian</a:t>
            </a:r>
            <a:br/>
            <a:r>
              <a:t>volumes.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1517904"/>
            <a:ext cx="1965960" cy="329184"/>
          </a:xfrm>
          <a:prstGeom prst="roundRect">
            <a:avLst/>
          </a:prstGeom>
          <a:solidFill>
            <a:srgbClr val="2E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1517904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NEXT-HOUR FORECAST</a:t>
            </a:r>
          </a:p>
        </p:txBody>
      </p:sp>
      <p:sp>
        <p:nvSpPr>
          <p:cNvPr id="24" name="Oval 23"/>
          <p:cNvSpPr/>
          <p:nvPr/>
        </p:nvSpPr>
        <p:spPr>
          <a:xfrm>
            <a:off x="6199632" y="2139696"/>
            <a:ext cx="365760" cy="365760"/>
          </a:xfrm>
          <a:prstGeom prst="ellipse">
            <a:avLst/>
          </a:prstGeom>
          <a:solidFill>
            <a:srgbClr val="2E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203703"/>
            <a:ext cx="4160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50" b="0" i="0">
                <a:solidFill>
                  <a:srgbClr val="17324D"/>
                </a:solidFill>
                <a:latin typeface="Arial"/>
              </a:defRPr>
            </a:pPr>
            <a:r>
              <a:t>Historical median for sensor, weekday and hour</a:t>
            </a:r>
          </a:p>
        </p:txBody>
      </p:sp>
      <p:sp>
        <p:nvSpPr>
          <p:cNvPr id="26" name="Oval 25"/>
          <p:cNvSpPr/>
          <p:nvPr/>
        </p:nvSpPr>
        <p:spPr>
          <a:xfrm>
            <a:off x="6199632" y="2761488"/>
            <a:ext cx="365760" cy="365760"/>
          </a:xfrm>
          <a:prstGeom prst="ellipse">
            <a:avLst/>
          </a:prstGeom>
          <a:solidFill>
            <a:srgbClr val="2E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825496"/>
            <a:ext cx="4160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50" b="0" i="0">
                <a:solidFill>
                  <a:srgbClr val="17324D"/>
                </a:solidFill>
                <a:latin typeface="Arial"/>
              </a:defRPr>
            </a:pPr>
            <a:r>
              <a:t>Adjustment using the most recent observation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199632" y="3383280"/>
            <a:ext cx="365760" cy="365760"/>
          </a:xfrm>
          <a:prstGeom prst="ellipse">
            <a:avLst/>
          </a:prstGeom>
          <a:solidFill>
            <a:srgbClr val="2E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447288"/>
            <a:ext cx="4160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50" b="0" i="0">
                <a:solidFill>
                  <a:srgbClr val="17324D"/>
                </a:solidFill>
                <a:latin typeface="Arial"/>
              </a:defRPr>
            </a:pPr>
            <a:r>
              <a:t>Confidence from sample size and data freshness</a:t>
            </a:r>
          </a:p>
        </p:txBody>
      </p:sp>
      <p:sp>
        <p:nvSpPr>
          <p:cNvPr id="30" name="Oval 29"/>
          <p:cNvSpPr/>
          <p:nvPr/>
        </p:nvSpPr>
        <p:spPr>
          <a:xfrm>
            <a:off x="6199632" y="4005072"/>
            <a:ext cx="365760" cy="365760"/>
          </a:xfrm>
          <a:prstGeom prst="ellipse">
            <a:avLst/>
          </a:prstGeom>
          <a:solidFill>
            <a:srgbClr val="2E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069080"/>
            <a:ext cx="4160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50" b="0" i="0">
                <a:solidFill>
                  <a:srgbClr val="17324D"/>
                </a:solidFill>
                <a:latin typeface="Arial"/>
              </a:defRPr>
            </a:pPr>
            <a:r>
              <a:t>Validation using MAE and high-crowd precision/recall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4791456"/>
            <a:ext cx="4626864" cy="521207"/>
          </a:xfrm>
          <a:prstGeom prst="roundRect">
            <a:avLst/>
          </a:prstGeom>
          <a:solidFill>
            <a:srgbClr val="EDF7FC"/>
          </a:solidFill>
          <a:ln w="12700">
            <a:solidFill>
              <a:srgbClr val="00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873752"/>
            <a:ext cx="431596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1" i="0">
                <a:solidFill>
                  <a:srgbClr val="17324D"/>
                </a:solidFill>
                <a:latin typeface="Arial"/>
              </a:defRPr>
            </a:pPr>
            <a:r>
              <a:t>User output: current level + next-hour estimate + confidence +</a:t>
            </a:r>
            <a:br/>
            <a:r>
              <a:t>early rerouting prompt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093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600" b="0" i="1">
                <a:solidFill>
                  <a:srgbClr val="5E7284"/>
                </a:solidFill>
                <a:latin typeface="Arial"/>
              </a:defRPr>
            </a:pPr>
            <a:r>
              <a:t>Source basis: Open Data.pdf — selected analytical approach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6556248"/>
            <a:ext cx="2926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550" b="1" i="0">
                <a:solidFill>
                  <a:srgbClr val="5E7284"/>
                </a:solidFill>
                <a:latin typeface="Arial"/>
              </a:defRPr>
            </a:pPr>
            <a:r>
              <a:t>S E N S O R Y - F R I E N D L Y   U R B A N   F U T U R E 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6556248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550" b="1" i="0">
                <a:solidFill>
                  <a:srgbClr val="5E7284"/>
                </a:solidFill>
                <a:latin typeface="Arial"/>
              </a:defRPr>
            </a:pPr>
            <a:r>
              <a:t>D A T A   S C I E N C E   P R O P O S A L  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